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3"/>
  </p:sldIdLst>
  <p:notesMasterIdLst>
    <p:notesMasterId r:id="rId12"/>
  </p:notesMasterIdLst>
  <p:sldSz cx="12191695" cy="6858000"/>
  <p:notesSz cx="6858000" cy="12191695"/>
  <p:embeddedFontLst>
    <p:embeddedFont>
      <p:font typeface="Fraunces"/>
      <p:regular r:id="rId201314"/>
    </p:embeddedFont>
    <p:embeddedFont>
      <p:font typeface="Fraunces SemiBold"/>
      <p:regular r:id="rId201315"/>
    </p:embeddedFont>
    <p:embeddedFont>
      <p:font typeface="Fraunces Bold"/>
      <p:regular r:id="rId201316"/>
    </p:embeddedFont>
    <p:embeddedFont>
      <p:font typeface="Outfit"/>
      <p:regular r:id="rId201317"/>
    </p:embeddedFont>
    <p:embeddedFont>
      <p:font typeface="Outfit Bold"/>
      <p:regular r:id="rId201318"/>
    </p:embeddedFont>
    <p:embeddedFont>
      <p:font typeface="Poiret One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3" Type="http://schemas.openxmlformats.org/officeDocument/2006/relationships/slide" Target="slides/slide11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0:00–0:20. Presentar al equipo y el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0:20–1:10. Explicar por qué importa: en última milla el transporte es el mayor costo y Lima castiga los malos cruces.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1:10–1:50. Mostrar que el mismo sistema recibe entradas distintas. Invitar a otros equipos a proponer un escenario.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1:50–3:00. Punto clave de la rúbrica: defender el número de agentes y que los prompts son nuestros.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3:00–3:40. Recorrer el diagrama de arriba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3:40–4:20. Mencionar que en los notebooks de clase la key estaba en el código y que la revocamos.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4:20–6:00. Ejecutar en vivo. Si hay un 429, esperar 60 s; si se agota la cuota, USAR_RESPALDO=True.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6:00–6:40. Resultados de la ejecución del 13/10. Si en la demo en vivo salen otros, mencionarlos: el LLM no es determinista.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6:40–7:00. El sistema es barato; la restricción real es el límite de tokens/min, no el costo.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7:00–7:40.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7:40–8:00. Cerrar con la idea central: el LLM razona y el código calcula. Invitar a otro equipo a proponer un escenario (pide la rúbrica).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0D">
              <a:alpha val="2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1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1397000"/>
            <a:ext cx="6857828" cy="4064000"/>
          </a:xfrm>
          <a:prstGeom prst="roundRect">
            <a:avLst>
              <a:gd name="adj" fmla="val 656"/>
            </a:avLst>
          </a:prstGeom>
          <a:solidFill>
            <a:srgbClr val="211E1A"/>
          </a:solidFill>
          <a:ln w="12700">
            <a:solidFill>
              <a:srgbClr val="C7A1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4872" y="1765300"/>
            <a:ext cx="66292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HACKATHON 7 · CASO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04872" y="2075361"/>
            <a:ext cx="6019649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Planificador logístico multi-agente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04872" y="3332956"/>
            <a:ext cx="1504912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6" name="Text 4"/>
          <p:cNvSpPr/>
          <p:nvPr/>
        </p:nvSpPr>
        <p:spPr>
          <a:xfrm>
            <a:off x="1104872" y="3795795"/>
            <a:ext cx="6019649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CBA7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CrewAI + Groq (gpt-oss-20b / gpt-oss-120b)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4872" y="4187627"/>
            <a:ext cx="60196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Ekypooh — Luis Anthony Romero Padilla · Andrés Martin Benjamín Torres Ramos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4872" y="4924227"/>
            <a:ext cx="66292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942677"/>
            <a:ext cx="72134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CONTEXTO Y RETO OPERATIVO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1251964"/>
            <a:ext cx="6756231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El problema: repartir bien, cada mañana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2454573"/>
            <a:ext cx="2229489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695873"/>
            <a:ext cx="6756231" cy="3219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Distribuidora con almacén en Ate: 15–20 pedidos diarios en 7 distritos de Lima y 3 vehículos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Decisión que apoyamos: qué vehículo atiende qué pedidos, en qué orden y si conviene recargar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Restricciones: capacidad, ventanas horarias, hora punta (x1.4) y regreso antes de las 19:00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Usuario: jefe de despacho, antes de la salida de las 08:00 y ante imprevistos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Impacto: pasar de ~45 min de planificación 'a ojo' a minutos, con alternativas comparables y trazables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Criterios: factibilidad → cero pedidos de alta prioridad tarde → objetivo del día → menor riesgo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14110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CONFIGURACIÓN DEL SISTEMA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664363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Prompt inicial: 4 entradas y 2 escenarios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364555"/>
            <a:ext cx="2793831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1580455"/>
            <a:ext cx="54354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14110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ENTRADAS AL SISTEMA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913830"/>
          <a:ext cx="5435464" cy="914400"/>
        </p:xfrm>
        <a:graphic>
          <a:graphicData uri="http://schemas.openxmlformats.org/drawingml/2006/table">
            <a:tbl>
              <a:tblPr/>
              <a:tblGrid>
                <a:gridCol w="1630619"/>
                <a:gridCol w="3804845"/>
              </a:tblGrid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Entrada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Contenido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pedidos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id ; distrito ; kg ; ventana ; prioridad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flota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vehículos, capacidad, S/ por km y por hora, disponibilidad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restricciones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reglas del turno + imprevistos del día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objetivo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lo que prioriza la gerencia hoy (costo o servicio)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48244" y="1580455"/>
            <a:ext cx="54354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14110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ESCENARIOS DE EVALUACIÓN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913830"/>
          <a:ext cx="5435464" cy="914400"/>
        </p:xfrm>
        <a:graphic>
          <a:graphicData uri="http://schemas.openxmlformats.org/drawingml/2006/table">
            <a:tbl>
              <a:tblPr/>
              <a:tblGrid>
                <a:gridCol w="1304496"/>
                <a:gridCol w="2065385"/>
                <a:gridCol w="2065584"/>
              </a:tblGrid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Variable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Escenario 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Escenario 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Pedidos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15 (2 240 kg)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17 (2 480 kg) — 2 urgentes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4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Flota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V1, V2, V3 (2 600 kg)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V2 en mantenimiento (1 600 kg)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Objetivo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Mínimo costo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Nivel de servicio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Reto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Ventanas + hora punta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Requiere recarga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7987" y="4136330"/>
            <a:ext cx="11175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Datos sintéticos pero realistas (matriz de tiempos entre distritos), definidos en el notebook para reproducir la ejecución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Validación determinista antes de llamar al LLM: si los datos están mal, el flujo se detiene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30200"/>
            <a:ext cx="117091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ARQUITECTURA DE AGENTES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2588" y="638963"/>
            <a:ext cx="1122651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Diseño: 4 agentes con roles diferenciados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2588" y="1339155"/>
            <a:ext cx="2806630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8" y="1529655"/>
          <a:ext cx="11226519" cy="914400"/>
        </p:xfrm>
        <a:graphic>
          <a:graphicData uri="http://schemas.openxmlformats.org/drawingml/2006/table">
            <a:tbl>
              <a:tblPr/>
              <a:tblGrid>
                <a:gridCol w="2469791"/>
                <a:gridCol w="1908425"/>
                <a:gridCol w="3480209"/>
                <a:gridCol w="1796211"/>
                <a:gridCol w="1571883"/>
              </a:tblGrid>
              <a:tr h="40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Agente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Recibe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Produce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Tool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Modelo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40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Analista de operaciones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4 entradas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Diagnóstico por zona, capacidad, críticos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Resumen por zona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gpt-oss-20b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Planificador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Diagnóstico + matriz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 estrategias distintas (PLAN E1..E3)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—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gpt-oss-120b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Evaluador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Estrategias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Tabla costo/km/tardanzas/riesgo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Evaluar estrategias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gpt-oss-20b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Decisor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Estrategias + evaluación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Decisión, riesgos, checklist, PLAN_FINAL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—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gpt-oss-120b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88898" marB="888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2588" y="3669605"/>
            <a:ext cx="112265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¿Por qué 4? Con 3, quien propone se evaluaría a sí mismo; con 5, más tokens sin más calidad (la validación la hace código)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Instrucciones propias del caso: reglas contra la invención de datos y formato estricto que el siguiente agente puede procesar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20b en las tareas con tool y 120b en las de razonamiento; alternarlos reparte el límite de tokens por minuto de Groq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04800"/>
            <a:ext cx="117345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FLUJO DE EJECUCIÓN Y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09738"/>
            <a:ext cx="1127731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Orquestación: secuencial + replanificación condicional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189" y="1285875"/>
            <a:ext cx="2819329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6" name="Text 3"/>
          <p:cNvSpPr/>
          <p:nvPr/>
        </p:nvSpPr>
        <p:spPr>
          <a:xfrm>
            <a:off x="8259754" y="2586038"/>
            <a:ext cx="3474752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Process.sequential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con context entre tareas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 el PLAN_FINAL es infactible → se replanifica 1 vez con retroalimentación (sin repetir el analista)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Decisor integra; el humano aprueba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59754" y="4745038"/>
            <a:ext cx="3474752" cy="863600"/>
          </a:xfrm>
          <a:prstGeom prst="roundRect">
            <a:avLst>
              <a:gd name="adj" fmla="val 3088"/>
            </a:avLst>
          </a:prstGeom>
          <a:solidFill>
            <a:srgbClr val="EBE6E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550" y="4995267"/>
            <a:ext cx="177696" cy="142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93042" y="4967288"/>
            <a:ext cx="276366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Decisor integra la respuesta final. Las cifras salen siempre de las tools, no del LLM.</a:t>
            </a:r>
            <a:endParaRPr lang="en-US" sz="1100" dirty="0"/>
          </a:p>
        </p:txBody>
      </p:sp>
      <p:pic>
        <p:nvPicPr>
          <p:cNvPr id="10" name="Picture 9" descr="diagrama_flujo_present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1476375"/>
            <a:ext cx="7497873" cy="5112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7477" y="762298"/>
            <a:ext cx="726421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DIVISIÓN COGNITIVA Y TÉCNICA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927477" y="1071060"/>
            <a:ext cx="680703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El LLM razona y el código calcula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927477" y="1771253"/>
            <a:ext cx="2246157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6" name="Text 3"/>
          <p:cNvSpPr/>
          <p:nvPr/>
        </p:nvSpPr>
        <p:spPr>
          <a:xfrm>
            <a:off x="4927477" y="1961753"/>
            <a:ext cx="6807030" cy="413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Tools deterministas (@tool de CrewAI):</a:t>
            </a:r>
            <a:endParaRPr lang="en-US" sz="1400" dirty="0"/>
          </a:p>
          <a:p>
            <a:pPr algn="l" marL="566928" indent="-228600">
              <a:lnSpc>
                <a:spcPct val="125000"/>
              </a:lnSpc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Resumen de operación por zona → kg, ventanas, salidas mínimas, pedidos críticos</a:t>
            </a:r>
            <a:endParaRPr lang="en-US" sz="1400" dirty="0"/>
          </a:p>
          <a:p>
            <a:pPr algn="l" marL="566928" indent="-228600">
              <a:lnSpc>
                <a:spcPct val="125000"/>
              </a:lnSpc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Evaluar estrategias → simulación minuto a minuto: hora punta, esperas, capacidad por viaje, fin de turno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Verificación independiente: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el PLAN_FINAL se vuelve a simular fuera del LLM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Gestión de API keys y de cuota en Groq:</a:t>
            </a:r>
            <a:endParaRPr lang="en-US" sz="1400" dirty="0"/>
          </a:p>
          <a:p>
            <a:pPr algn="l" marL="566928" indent="-228600">
              <a:lnSpc>
                <a:spcPct val="125000"/>
              </a:lnSpc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Key en .env (nunca en el notebook) + getpass + key de respaldo de otro integrante</a:t>
            </a:r>
            <a:endParaRPr lang="en-US" sz="1400" dirty="0"/>
          </a:p>
          <a:p>
            <a:pPr algn="l" marL="566928" indent="-228600">
              <a:lnSpc>
                <a:spcPct val="125000"/>
              </a:lnSpc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Antes de la demo leemos las cabeceras x-ratelimit-*; límite de 8K tokens/min por modelo</a:t>
            </a:r>
            <a:endParaRPr lang="en-US" sz="1400" dirty="0"/>
          </a:p>
          <a:p>
            <a:pPr algn="l" marL="566928" indent="-228600">
              <a:lnSpc>
                <a:spcPct val="125000"/>
              </a:lnSpc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Pausas entre agentes, reasoning_effort bajo, salidas de tools recortadas, reintentos ante 429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726208"/>
            <a:ext cx="7010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VALIDACIÓN EXPERIMENTAL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2035495"/>
            <a:ext cx="655303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Demo en vivo (Groq)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7987" y="2763143"/>
            <a:ext cx="2162319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979043"/>
            <a:ext cx="6553036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Celda 2.2: ping a Groq + cuota restante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Escenario A → salida de cada agente (analista, planificador, evaluador, decisor)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Verificación independiente del plan elegido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Escenario B → el sistema recurre a recargas porque falta un vehículo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Datos corruptos → la compuerta detiene el flujo sin gastar tokens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Respaldo si falla la conexión: salidas guardadas en evidencias/A_*.md y B_*.md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5600"/>
            <a:ext cx="116837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RESULTADOS COMPARATIVOS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664363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Decisión recomendada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364555"/>
            <a:ext cx="2793831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580455"/>
          <a:ext cx="11175721" cy="914400"/>
        </p:xfrm>
        <a:graphic>
          <a:graphicData uri="http://schemas.openxmlformats.org/drawingml/2006/table">
            <a:tbl>
              <a:tblPr/>
              <a:tblGrid>
                <a:gridCol w="2905648"/>
                <a:gridCol w="4134937"/>
                <a:gridCol w="4135136"/>
              </a:tblGrid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Criterio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Escenario A (costo)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Escenario B (servicio)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Estrategia elegida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E2 – Por ventanas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E2 – Por ventanas + 2 recargas (2.º intento)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Verificación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D42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FACTIBLE</a:t>
                      </a:r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 · S/ 776.07 · 236 km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D42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FACTIBLE</a:t>
                      </a:r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 · S/ 838.03 · 279 km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Fuera de ventana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2 normales (P09, P10) · 0 de alta prioridad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Brecha frente a la línea base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+30.2 %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+41.4 %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Riesgo principal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V2 al 99 % de capacidad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V3 vuelve a las 18:45 (15 min de margen)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7987" y="4323655"/>
            <a:ext cx="11175720" cy="654050"/>
          </a:xfrm>
          <a:prstGeom prst="roundRect">
            <a:avLst>
              <a:gd name="adj" fmla="val 4078"/>
            </a:avLst>
          </a:prstGeom>
          <a:solidFill>
            <a:srgbClr val="EBE6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4573885"/>
            <a:ext cx="177696" cy="142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1275" y="4545905"/>
            <a:ext cx="1107422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Checklist humano: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factibilidad verificada · holgura en pedidos de alta prioridad · flota real · cierres viales · carga lista para la recarga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330200"/>
            <a:ext cx="117091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ANÁLISIS DE COSTOS Y CUOTAS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82588" y="638963"/>
            <a:ext cx="1122651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¿Cuánto cuesta? (tabla comparativa)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2588" y="1339155"/>
            <a:ext cx="2806630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8" y="1529655"/>
          <a:ext cx="6917061" cy="914400"/>
        </p:xfrm>
        <a:graphic>
          <a:graphicData uri="http://schemas.openxmlformats.org/drawingml/2006/table">
            <a:tbl>
              <a:tblPr/>
              <a:tblGrid>
                <a:gridCol w="2628437"/>
                <a:gridCol w="2490130"/>
                <a:gridCol w="1798493"/>
              </a:tblGrid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Modelo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Entrada / salida (USD por 1M)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USD por ejecución*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1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Groq gpt-oss-20b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0.075 / 0.30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0.009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Groq gpt-oss-120b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0.15 / 0.60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0.017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GPT-5-mini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0.25 / 2.00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0.046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Gemini-2.5-flash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0.30 / 2.50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0.057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Claude Sonnet 4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3.00 / 15.00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0.399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GPT-6 Astra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10.00 / 50.00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1.329</a:t>
                      </a:r>
                      <a:endParaRPr lang="en-US" sz="110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01598" marR="101598" marT="76198" marB="76198" anchor="ctr">
                    <a:lnL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A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04342" y="1529655"/>
            <a:ext cx="4004765" cy="283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*Promedio medido: ~47K tokens de entrada + ~17K de salida por ejecución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 Groq: menos de US$ 1.20 al mes (66 ejecuciones)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límite real no es el costo sino la cuota: A + B consumieron ~128K de los 200K tokens diarios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Salvedad: hay precios por tramos o introductorios y algunas filas de la tabla están desactualizadas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200"/>
            <a:ext cx="116837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80602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LECCIONES APRENDIDAS Y LÍMITES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638963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Evaluación crítica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7987" y="1339155"/>
            <a:ext cx="2793831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1555055"/>
            <a:ext cx="5435464" cy="1548705"/>
          </a:xfrm>
          <a:prstGeom prst="roundRect">
            <a:avLst>
              <a:gd name="adj" fmla="val 1722"/>
            </a:avLst>
          </a:prstGeom>
          <a:solidFill>
            <a:srgbClr val="E8DEC4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1732855"/>
            <a:ext cx="81297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4110D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987" y="1981795"/>
            <a:ext cx="5435464" cy="1905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2120478"/>
            <a:ext cx="507987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Calidad de solución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783" y="2506861"/>
            <a:ext cx="50798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Los LLM no son optimizadores: planes factibles, pero 30–41 % más caros que una heurística sin LLM.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8244" y="1555055"/>
            <a:ext cx="5435464" cy="1548705"/>
          </a:xfrm>
          <a:prstGeom prst="roundRect">
            <a:avLst>
              <a:gd name="adj" fmla="val 1722"/>
            </a:avLst>
          </a:prstGeom>
          <a:solidFill>
            <a:srgbClr val="E8DEC4"/>
          </a:solidFill>
          <a:ln/>
        </p:spPr>
      </p:sp>
      <p:sp>
        <p:nvSpPr>
          <p:cNvPr id="11" name="Text 9"/>
          <p:cNvSpPr/>
          <p:nvPr/>
        </p:nvSpPr>
        <p:spPr>
          <a:xfrm>
            <a:off x="6426039" y="1732855"/>
            <a:ext cx="83956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4110D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1981795"/>
            <a:ext cx="5435464" cy="1905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039" y="2120478"/>
            <a:ext cx="507987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Resiliencia del flujo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26039" y="2506861"/>
            <a:ext cx="50798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Formato roto ocurrió 2 veces: la verificación lo detectó y la replanificación lo corrigió.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987" y="3408561"/>
            <a:ext cx="5435464" cy="1548705"/>
          </a:xfrm>
          <a:prstGeom prst="roundRect">
            <a:avLst>
              <a:gd name="adj" fmla="val 1722"/>
            </a:avLst>
          </a:prstGeom>
          <a:solidFill>
            <a:srgbClr val="E8DEC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783" y="3586361"/>
            <a:ext cx="83014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4110D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987" y="3835301"/>
            <a:ext cx="5435464" cy="1905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783" y="3973983"/>
            <a:ext cx="507987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Detección de anomalías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783" y="4360366"/>
            <a:ext cx="507987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Errores posibles: cifras mal citadas, formato roto, pedidos omitidos o duplicados → los detecta el motor.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8244" y="3408561"/>
            <a:ext cx="5435464" cy="1548705"/>
          </a:xfrm>
          <a:prstGeom prst="roundRect">
            <a:avLst>
              <a:gd name="adj" fmla="val 1722"/>
            </a:avLst>
          </a:prstGeom>
          <a:solidFill>
            <a:srgbClr val="E8DEC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6039" y="3586361"/>
            <a:ext cx="84135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4110D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8244" y="3835301"/>
            <a:ext cx="5435464" cy="1905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23" name="Text 21"/>
          <p:cNvSpPr/>
          <p:nvPr/>
        </p:nvSpPr>
        <p:spPr>
          <a:xfrm>
            <a:off x="6426039" y="3973983"/>
            <a:ext cx="507987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Límite de validación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26039" y="4360366"/>
            <a:ext cx="525766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Datos incorrectos pero plausibles no se detectan: garbage in, garbage out.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987" y="5084266"/>
            <a:ext cx="11175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Persona en el circuito: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valida las entradas, corrige si la compuerta falla, aprueba el plan y reasigna en ruta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Siguiente versión: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OR-Tools como tool, tráfico real por API, output_pydantic, medir la variabilidad entre ejecuciones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85783" y="868680"/>
            <a:ext cx="7863840" cy="5120640"/>
          </a:xfrm>
          <a:prstGeom prst="roundRect">
            <a:avLst>
              <a:gd name="adj" fmla="val 656"/>
            </a:avLst>
          </a:prstGeom>
          <a:solidFill>
            <a:srgbClr val="211E1A"/>
          </a:solidFill>
          <a:ln w="12700">
            <a:solidFill>
              <a:srgbClr val="C7A1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4872" y="1234440"/>
            <a:ext cx="66292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CIERRE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04872" y="1554480"/>
            <a:ext cx="60196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04872" y="2377440"/>
            <a:ext cx="1504912" cy="19050"/>
          </a:xfrm>
          <a:prstGeom prst="roundRect">
            <a:avLst>
              <a:gd name="adj" fmla="val 49999"/>
            </a:avLst>
          </a:prstGeom>
          <a:solidFill>
            <a:srgbClr val="C7A15C"/>
          </a:solidFill>
          <a:ln/>
        </p:spPr>
      </p:sp>
      <p:sp>
        <p:nvSpPr>
          <p:cNvPr id="6" name="Text 4"/>
          <p:cNvSpPr/>
          <p:nvPr/>
        </p:nvSpPr>
        <p:spPr>
          <a:xfrm>
            <a:off x="1104872" y="2651760"/>
            <a:ext cx="6949440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CBA7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 que demuestra el prototipo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4872" y="3063240"/>
            <a:ext cx="6949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-228600" marL="228600">
              <a:lnSpc>
                <a:spcPct val="125000"/>
              </a:lnSpc>
              <a:buChar char="•"/>
            </a:pPr>
            <a:r>
              <a:rPr lang="en-US" sz="13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agentes con roles claros sobre Groq, en un flujo secuencial con replanificación condicional</a:t>
            </a:r>
            <a:endParaRPr lang="en-US" sz="1400" dirty="0"/>
          </a:p>
          <a:p>
            <a:pPr algn="l" indent="-228600" marL="228600">
              <a:lnSpc>
                <a:spcPct val="125000"/>
              </a:lnSpc>
              <a:buChar char="•"/>
            </a:pPr>
            <a:r>
              <a:rPr lang="en-US" sz="13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Separar razonamiento (LLM) y cálculo (tools) hace que cada cifra de la decisión sea auditable</a:t>
            </a:r>
            <a:endParaRPr lang="en-US" sz="1400" dirty="0"/>
          </a:p>
          <a:p>
            <a:pPr algn="l" indent="-228600" marL="228600">
              <a:lnSpc>
                <a:spcPct val="125000"/>
              </a:lnSpc>
              <a:buChar char="•"/>
            </a:pPr>
            <a:r>
              <a:rPr lang="en-US" sz="13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Planes factibles y verificados, pero 30–41 % más caros que una heurística: los LLM no optimizan</a:t>
            </a:r>
            <a:endParaRPr lang="en-US" sz="1400" dirty="0"/>
          </a:p>
          <a:p>
            <a:pPr algn="l" indent="-228600" marL="228600">
              <a:lnSpc>
                <a:spcPct val="125000"/>
              </a:lnSpc>
              <a:buChar char="•"/>
            </a:pPr>
            <a:r>
              <a:rPr lang="en-US" sz="13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Siguiente paso: un optimizador (OR-Tools) como tool y el LLM para explicar y manejar excepciones</a:t>
            </a:r>
            <a:endParaRPr lang="en-US" sz="1400" dirty="0"/>
          </a:p>
          <a:p>
            <a:pPr algn="l" indent="-228600" marL="228600">
              <a:lnSpc>
                <a:spcPct val="125000"/>
              </a:lnSpc>
              <a:buChar char="•"/>
            </a:pPr>
            <a:r>
              <a:rPr lang="en-US" sz="1300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sistema apoya; la última palabra la tiene el jefe de despacho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4872" y="5577840"/>
            <a:ext cx="69494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A76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¿Preguntas? · Propongan un escenario para probarlo en vivo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2026-10-14T01:49:04Z</dcterms:created>
  <dcterms:modified xsi:type="dcterms:W3CDTF">2026-10-14T01:49:04Z</dcterms:modified>
</cp:coreProperties>
</file>